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9" r:id="rId7"/>
    <p:sldId id="262" r:id="rId8"/>
    <p:sldId id="268" r:id="rId9"/>
    <p:sldId id="261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FC404-374D-E12F-EC52-DB0010BFB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2FA53-79CD-DFD8-9029-1F83D9130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C8D7F-70FC-473E-F085-AE1944157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CF6C6-8893-7F13-DF85-035ED87F56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30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51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9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9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24.png"/><Relationship Id="rId9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9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24.png"/><Relationship Id="rId9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9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34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9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34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9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34.png"/><Relationship Id="rId4" Type="http://schemas.openxmlformats.org/officeDocument/2006/relationships/image" Target="../media/image24.png"/><Relationship Id="rId9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9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63.png"/><Relationship Id="rId10" Type="http://schemas.openxmlformats.org/officeDocument/2006/relationships/image" Target="../media/image66.png"/><Relationship Id="rId4" Type="http://schemas.openxmlformats.org/officeDocument/2006/relationships/image" Target="../media/image24.png"/><Relationship Id="rId9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9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39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784215" y="3422742"/>
            <a:ext cx="6858000" cy="127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0" y="1019091"/>
            <a:ext cx="12192000" cy="12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907" y="2056447"/>
            <a:ext cx="8101353" cy="130307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854" y="5667648"/>
            <a:ext cx="3122177" cy="43284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16" y="3316224"/>
            <a:ext cx="8103049" cy="54932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295" y="5348357"/>
            <a:ext cx="1150097" cy="4434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1019091"/>
            <a:ext cx="12192000" cy="127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784215" y="3422648"/>
            <a:ext cx="6858000" cy="12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2"/>
            <a:ext cx="65405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2003" y="2125186"/>
            <a:ext cx="1411605" cy="173799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679" y="477023"/>
            <a:ext cx="2663520" cy="59035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9226" y="2994533"/>
            <a:ext cx="4757599" cy="52187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1404" y="2994298"/>
            <a:ext cx="603910" cy="49536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1404" y="3550088"/>
            <a:ext cx="603910" cy="49536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1404" y="4105878"/>
            <a:ext cx="603910" cy="49536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9226" y="4079164"/>
            <a:ext cx="4757599" cy="52187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1722" y="4661694"/>
            <a:ext cx="603910" cy="49536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26339" y="3523558"/>
            <a:ext cx="4950132" cy="52187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29069" y="4648702"/>
            <a:ext cx="4757599" cy="52187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26021" y="5200555"/>
            <a:ext cx="4757599" cy="52187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18199" y="5200326"/>
            <a:ext cx="603910" cy="49536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8199" y="5756116"/>
            <a:ext cx="603910" cy="495367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26021" y="5729580"/>
            <a:ext cx="4950132" cy="521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65405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0" y="1020679"/>
            <a:ext cx="12192000" cy="95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5955" y="1470177"/>
            <a:ext cx="9839325" cy="16160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679" y="294681"/>
            <a:ext cx="967740" cy="77260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6018" y="3690271"/>
            <a:ext cx="3289059" cy="57550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516018" y="5024152"/>
            <a:ext cx="3289059" cy="57550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9050" y="4172715"/>
            <a:ext cx="5728970" cy="113919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3936" y="520871"/>
            <a:ext cx="4454184" cy="5038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374746">
            <a:off x="4593029" y="3706434"/>
            <a:ext cx="1116330" cy="18770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6791ED-3CE5-8E05-7CA4-F1D7044DA247}"/>
              </a:ext>
            </a:extLst>
          </p:cNvPr>
          <p:cNvSpPr txBox="1"/>
          <p:nvPr/>
        </p:nvSpPr>
        <p:spPr>
          <a:xfrm>
            <a:off x="215704" y="6251484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6"/>
            <a:ext cx="65405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" y="1020679"/>
            <a:ext cx="12192000" cy="95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160" y="1888937"/>
            <a:ext cx="4502150" cy="372300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049" y="1888703"/>
            <a:ext cx="4501515" cy="5778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2687" y="1881372"/>
            <a:ext cx="1574165" cy="43688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679" y="294681"/>
            <a:ext cx="970615" cy="77260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3936" y="520497"/>
            <a:ext cx="4454184" cy="5038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8851" y="2700109"/>
            <a:ext cx="3875898" cy="284985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616812" y="1848986"/>
            <a:ext cx="1590040" cy="5016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74879" y="1917319"/>
            <a:ext cx="4114800" cy="3819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AECD47-F41B-1C82-15B3-4BC9F06EBBD8}"/>
              </a:ext>
            </a:extLst>
          </p:cNvPr>
          <p:cNvSpPr txBox="1"/>
          <p:nvPr/>
        </p:nvSpPr>
        <p:spPr>
          <a:xfrm>
            <a:off x="215704" y="6251484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11"/>
            <a:ext cx="65405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" y="1020680"/>
            <a:ext cx="12192000" cy="95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2374" y="1952342"/>
            <a:ext cx="4320154" cy="109904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383" y="1951994"/>
            <a:ext cx="4320154" cy="4297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679" y="294681"/>
            <a:ext cx="970615" cy="77260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3936" y="520497"/>
            <a:ext cx="4454184" cy="5038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579048" y="2183282"/>
            <a:ext cx="4161866" cy="63716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885" y="1948628"/>
            <a:ext cx="4320154" cy="109904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3894" y="1948279"/>
            <a:ext cx="4320154" cy="4297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7189705" y="2183282"/>
            <a:ext cx="4161866" cy="63716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904" y="4366016"/>
            <a:ext cx="4320154" cy="1099046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9914" y="4365667"/>
            <a:ext cx="4320154" cy="4297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579048" y="4593565"/>
            <a:ext cx="4161866" cy="63716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408" y="4362625"/>
            <a:ext cx="4320154" cy="1099046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1417" y="4362276"/>
            <a:ext cx="4320154" cy="42979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7189696" y="4638872"/>
            <a:ext cx="4161866" cy="63716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4DF3B5D-133D-49D4-1B58-524BF91A42B7}"/>
              </a:ext>
            </a:extLst>
          </p:cNvPr>
          <p:cNvSpPr txBox="1"/>
          <p:nvPr/>
        </p:nvSpPr>
        <p:spPr>
          <a:xfrm>
            <a:off x="215704" y="6251484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CFC1E-8EBB-9F56-9D57-DDB33982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EE6CB39-D9C8-804B-44B8-A9A02B8AC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"/>
            <a:ext cx="65405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454F8E93-6E92-E8D8-29A3-B6372A415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0" y="1020680"/>
            <a:ext cx="12192000" cy="9525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4CC8B687-BA21-AF20-E279-4D4EDA8E3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700" y="1543755"/>
            <a:ext cx="1574165" cy="43688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FC702FF-AE5F-6EEF-AA1C-3C3690AB73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679" y="294681"/>
            <a:ext cx="970615" cy="772603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E1C4FCFE-9950-706E-CFDF-3A3DA71FA3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3936" y="520386"/>
            <a:ext cx="4454184" cy="503825"/>
          </a:xfrm>
          <a:prstGeom prst="rect">
            <a:avLst/>
          </a:prstGeom>
        </p:spPr>
      </p:pic>
      <p:sp>
        <p:nvSpPr>
          <p:cNvPr id="16" name="가로 글상자 15">
            <a:extLst>
              <a:ext uri="{FF2B5EF4-FFF2-40B4-BE49-F238E27FC236}">
                <a16:creationId xmlns:a16="http://schemas.microsoft.com/office/drawing/2014/main" id="{B05199FF-6B57-D268-E244-BF26FFAF509E}"/>
              </a:ext>
            </a:extLst>
          </p:cNvPr>
          <p:cNvSpPr txBox="1"/>
          <p:nvPr/>
        </p:nvSpPr>
        <p:spPr>
          <a:xfrm>
            <a:off x="1881294" y="1579985"/>
            <a:ext cx="895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dirty="0">
                <a:solidFill>
                  <a:schemeClr val="lt1"/>
                </a:solidFill>
              </a:rPr>
              <a:t>환경</a:t>
            </a:r>
            <a:endParaRPr lang="en-US" altLang="ko-KR" dirty="0">
              <a:solidFill>
                <a:schemeClr val="lt1"/>
              </a:solidFill>
            </a:endParaRPr>
          </a:p>
        </p:txBody>
      </p:sp>
      <p:pic>
        <p:nvPicPr>
          <p:cNvPr id="9" name="그림 8" descr="텍스트, 스크린샷, 폰트이(가) 표시된 사진">
            <a:extLst>
              <a:ext uri="{FF2B5EF4-FFF2-40B4-BE49-F238E27FC236}">
                <a16:creationId xmlns:a16="http://schemas.microsoft.com/office/drawing/2014/main" id="{8688F513-4EFF-6E4F-F225-2EC0588396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800" y="2494184"/>
            <a:ext cx="10627153" cy="34090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3EC2DA-7E5B-C9D1-9536-E0CF38BEF48F}"/>
              </a:ext>
            </a:extLst>
          </p:cNvPr>
          <p:cNvSpPr txBox="1"/>
          <p:nvPr/>
        </p:nvSpPr>
        <p:spPr>
          <a:xfrm>
            <a:off x="6200669" y="2506762"/>
            <a:ext cx="57242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i="0" dirty="0">
                <a:solidFill>
                  <a:srgbClr val="424242"/>
                </a:solidFill>
                <a:effectLst/>
                <a:latin typeface="-apple-system"/>
              </a:rPr>
              <a:t>강화학습 에이전트가 관측</a:t>
            </a:r>
            <a:r>
              <a:rPr lang="en-US" altLang="ko-KR" b="1" i="0" dirty="0">
                <a:solidFill>
                  <a:srgbClr val="424242"/>
                </a:solidFill>
                <a:effectLst/>
                <a:latin typeface="-apple-system"/>
              </a:rPr>
              <a:t>(Observation)→</a:t>
            </a:r>
            <a:r>
              <a:rPr lang="ko-KR" altLang="en-US" b="1" i="0" dirty="0">
                <a:solidFill>
                  <a:srgbClr val="424242"/>
                </a:solidFill>
                <a:effectLst/>
                <a:latin typeface="-apple-system"/>
              </a:rPr>
              <a:t>행동</a:t>
            </a:r>
            <a:r>
              <a:rPr lang="en-US" altLang="ko-KR" b="1" i="0" dirty="0">
                <a:solidFill>
                  <a:srgbClr val="424242"/>
                </a:solidFill>
                <a:effectLst/>
                <a:latin typeface="-apple-system"/>
              </a:rPr>
              <a:t>(Action)→</a:t>
            </a:r>
            <a:r>
              <a:rPr lang="ko-KR" altLang="en-US" b="1" i="0" dirty="0">
                <a:solidFill>
                  <a:srgbClr val="424242"/>
                </a:solidFill>
                <a:effectLst/>
                <a:latin typeface="-apple-system"/>
              </a:rPr>
              <a:t>보상</a:t>
            </a:r>
            <a:r>
              <a:rPr lang="en-US" altLang="ko-KR" b="1" i="0" dirty="0">
                <a:solidFill>
                  <a:srgbClr val="424242"/>
                </a:solidFill>
                <a:effectLst/>
                <a:latin typeface="-apple-system"/>
              </a:rPr>
              <a:t>(Reward)→</a:t>
            </a:r>
            <a:r>
              <a:rPr lang="ko-KR" altLang="en-US" b="1" i="0" dirty="0">
                <a:solidFill>
                  <a:srgbClr val="424242"/>
                </a:solidFill>
                <a:effectLst/>
                <a:latin typeface="-apple-system"/>
              </a:rPr>
              <a:t>다음 관측을 반복하는 </a:t>
            </a:r>
            <a:r>
              <a:rPr lang="en-US" altLang="ko-KR" b="1" i="0" dirty="0">
                <a:solidFill>
                  <a:srgbClr val="424242"/>
                </a:solidFill>
                <a:effectLst/>
                <a:latin typeface="-apple-system"/>
              </a:rPr>
              <a:t>MDP</a:t>
            </a:r>
            <a:r>
              <a:rPr lang="ko-KR" altLang="en-US" b="1" i="0" dirty="0">
                <a:solidFill>
                  <a:srgbClr val="424242"/>
                </a:solidFill>
                <a:effectLst/>
                <a:latin typeface="-apple-system"/>
              </a:rPr>
              <a:t>를 표준화된 </a:t>
            </a:r>
            <a:r>
              <a:rPr lang="en-US" altLang="ko-KR" b="1" i="0" dirty="0">
                <a:solidFill>
                  <a:srgbClr val="424242"/>
                </a:solidFill>
                <a:effectLst/>
                <a:latin typeface="-apple-system"/>
              </a:rPr>
              <a:t>API</a:t>
            </a:r>
            <a:r>
              <a:rPr lang="ko-KR" altLang="en-US" b="1" i="0" dirty="0">
                <a:solidFill>
                  <a:srgbClr val="424242"/>
                </a:solidFill>
                <a:effectLst/>
                <a:latin typeface="-apple-system"/>
              </a:rPr>
              <a:t>로 정의</a:t>
            </a:r>
            <a:r>
              <a:rPr lang="en-US" altLang="ko-KR" b="1" i="0" dirty="0">
                <a:solidFill>
                  <a:srgbClr val="424242"/>
                </a:solidFill>
                <a:effectLst/>
                <a:latin typeface="-apple-system"/>
              </a:rPr>
              <a:t>·</a:t>
            </a:r>
            <a:r>
              <a:rPr lang="ko-KR" altLang="en-US" b="1" i="0" dirty="0">
                <a:solidFill>
                  <a:srgbClr val="424242"/>
                </a:solidFill>
                <a:effectLst/>
                <a:latin typeface="-apple-system"/>
              </a:rPr>
              <a:t>실행할 수 있게 해주는 인터페이스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C56DE6-34A9-F8F3-807D-69790BD739EB}"/>
              </a:ext>
            </a:extLst>
          </p:cNvPr>
          <p:cNvSpPr txBox="1"/>
          <p:nvPr/>
        </p:nvSpPr>
        <p:spPr>
          <a:xfrm>
            <a:off x="215704" y="6251484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4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120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"/>
            <a:ext cx="65405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0" y="1020680"/>
            <a:ext cx="12192000" cy="95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700" y="1543755"/>
            <a:ext cx="1574165" cy="43688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679" y="294681"/>
            <a:ext cx="970615" cy="77260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3936" y="520386"/>
            <a:ext cx="4454184" cy="503825"/>
          </a:xfrm>
          <a:prstGeom prst="rect">
            <a:avLst/>
          </a:prstGeom>
        </p:spPr>
      </p:pic>
      <p:sp>
        <p:nvSpPr>
          <p:cNvPr id="16" name="가로 글상자 15"/>
          <p:cNvSpPr txBox="1"/>
          <p:nvPr/>
        </p:nvSpPr>
        <p:spPr>
          <a:xfrm>
            <a:off x="1881294" y="1579985"/>
            <a:ext cx="895350" cy="364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>
                <a:solidFill>
                  <a:schemeClr val="lt1"/>
                </a:solidFill>
              </a:rPr>
              <a:t>DOF</a:t>
            </a:r>
          </a:p>
        </p:txBody>
      </p:sp>
      <p:pic>
        <p:nvPicPr>
          <p:cNvPr id="8" name="그림 7" descr="텍스트, 스크린샷, 폰트이(가) 표시된 사진">
            <a:extLst>
              <a:ext uri="{FF2B5EF4-FFF2-40B4-BE49-F238E27FC236}">
                <a16:creationId xmlns:a16="http://schemas.microsoft.com/office/drawing/2014/main" id="{7C550E47-E097-5EAC-A6E2-6273E5647D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017" y="2087405"/>
            <a:ext cx="11060955" cy="45471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873DCA-3A1C-C745-9CB9-EACB52D87C56}"/>
              </a:ext>
            </a:extLst>
          </p:cNvPr>
          <p:cNvSpPr txBox="1"/>
          <p:nvPr/>
        </p:nvSpPr>
        <p:spPr>
          <a:xfrm>
            <a:off x="215704" y="6251484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5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558"/>
            <a:ext cx="65405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0800000">
            <a:off x="0" y="1020680"/>
            <a:ext cx="12192000" cy="95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513700" y="1543755"/>
            <a:ext cx="1574165" cy="43688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10679" y="294681"/>
            <a:ext cx="970615" cy="77260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23936" y="520386"/>
            <a:ext cx="4454184" cy="5038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513700" y="1511370"/>
            <a:ext cx="1722120" cy="5016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910355" y="2240280"/>
            <a:ext cx="10099675" cy="461772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6255652" y="1762493"/>
            <a:ext cx="4114800" cy="54346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7865809" y="5151139"/>
            <a:ext cx="4114800" cy="15348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F8068A-5000-32E6-E299-1448D80646C2}"/>
              </a:ext>
            </a:extLst>
          </p:cNvPr>
          <p:cNvSpPr txBox="1"/>
          <p:nvPr/>
        </p:nvSpPr>
        <p:spPr>
          <a:xfrm>
            <a:off x="215704" y="6251484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6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22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9"/>
            <a:ext cx="65405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0" y="1020681"/>
            <a:ext cx="12192000" cy="95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700" y="1543755"/>
            <a:ext cx="1574165" cy="43688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679" y="294681"/>
            <a:ext cx="970615" cy="77260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3936" y="520386"/>
            <a:ext cx="4454184" cy="5038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23936" y="1511370"/>
            <a:ext cx="1590040" cy="5016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623936" y="2341071"/>
            <a:ext cx="9734429" cy="3995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78AA3D-8A20-C637-82AF-916CF0589057}"/>
              </a:ext>
            </a:extLst>
          </p:cNvPr>
          <p:cNvSpPr txBox="1"/>
          <p:nvPr/>
        </p:nvSpPr>
        <p:spPr>
          <a:xfrm>
            <a:off x="215704" y="6251484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7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"/>
            <a:ext cx="65405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0" y="1020680"/>
            <a:ext cx="12192000" cy="95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700" y="1543755"/>
            <a:ext cx="1784985" cy="43688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679" y="294681"/>
            <a:ext cx="970615" cy="77260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3936" y="520386"/>
            <a:ext cx="4454184" cy="5038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425435" y="1511687"/>
            <a:ext cx="1961515" cy="50101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6273394" y="2108060"/>
            <a:ext cx="5413375" cy="422846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10355" y="2665419"/>
            <a:ext cx="5118735" cy="26968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8C88A3-A384-982B-F824-0D9AA3AFD926}"/>
              </a:ext>
            </a:extLst>
          </p:cNvPr>
          <p:cNvSpPr txBox="1"/>
          <p:nvPr/>
        </p:nvSpPr>
        <p:spPr>
          <a:xfrm>
            <a:off x="215704" y="6251484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8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37"/>
            <a:ext cx="65405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0" y="1020680"/>
            <a:ext cx="12192000" cy="95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79" y="294681"/>
            <a:ext cx="970615" cy="77260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3936" y="520497"/>
            <a:ext cx="4454184" cy="5038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601168" y="2148142"/>
            <a:ext cx="4856480" cy="314515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199369" y="2147507"/>
            <a:ext cx="4856480" cy="31457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DE97E8-9148-C540-8812-C09C990BC317}"/>
              </a:ext>
            </a:extLst>
          </p:cNvPr>
          <p:cNvSpPr txBox="1"/>
          <p:nvPr/>
        </p:nvSpPr>
        <p:spPr>
          <a:xfrm>
            <a:off x="215704" y="6251484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9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405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0" y="1020680"/>
            <a:ext cx="12192000" cy="95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79" y="294681"/>
            <a:ext cx="970615" cy="77260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3936" y="520497"/>
            <a:ext cx="4454184" cy="503825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840017" y="1249383"/>
            <a:ext cx="6734836" cy="39703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목표지점에</a:t>
            </a:r>
            <a:r>
              <a:rPr lang="ko-KR" altLang="en-US"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95% </a:t>
            </a:r>
            <a:r>
              <a:rPr lang="ko-KR" altLang="en-US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확률로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5mm이내로 </a:t>
            </a:r>
            <a:r>
              <a:rPr lang="ko-KR" altLang="en-US"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접근</a:t>
            </a:r>
          </a:p>
          <a:p>
            <a:pPr lvl="0" algn="l">
              <a:defRPr/>
            </a:pP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또한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,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나머지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4%</a:t>
            </a:r>
            <a:r>
              <a:rPr lang="ko-KR" altLang="en-US"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는 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약 1cm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이내로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접근하며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좋은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정확도를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가진다고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판단할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수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있습니다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.</a:t>
            </a:r>
          </a:p>
          <a:p>
            <a:pPr lvl="0" algn="l">
              <a:defRPr/>
            </a:pPr>
            <a:endParaRPr sz="1800" b="0" i="0" strike="noStrike" dirty="0">
              <a:solidFill>
                <a:srgbClr val="000000">
                  <a:alpha val="100000"/>
                </a:srgbClr>
              </a:solidFill>
              <a:latin typeface="굴림"/>
              <a:ea typeface="굴림"/>
            </a:endParaRPr>
          </a:p>
          <a:p>
            <a:pPr lvl="0" algn="l">
              <a:defRPr/>
            </a:pP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프로젝트를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진행하며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대략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lang="ko-KR" altLang="en-US"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총 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3억번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정도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학습을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수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행하였고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강화학습이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어떤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것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인지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,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보상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함수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설계가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얼마나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중요한지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알 수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있게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되었습니다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.</a:t>
            </a:r>
          </a:p>
          <a:p>
            <a:pPr lvl="0" algn="l">
              <a:defRPr/>
            </a:pPr>
            <a:endParaRPr sz="1800" b="0" i="0" strike="noStrike" dirty="0">
              <a:solidFill>
                <a:srgbClr val="000000">
                  <a:alpha val="100000"/>
                </a:srgbClr>
              </a:solidFill>
              <a:latin typeface="굴림"/>
              <a:ea typeface="굴림"/>
            </a:endParaRPr>
          </a:p>
          <a:p>
            <a:pPr lvl="0" algn="l">
              <a:defRPr/>
            </a:pP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그러나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좋은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정확도를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가진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모델을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학습시켰지만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, 이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모델이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역학적으로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안정적인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자세로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목표점에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도달했는가에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대한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의문은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해소하지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못했습니다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.</a:t>
            </a:r>
          </a:p>
          <a:p>
            <a:pPr lvl="0" algn="l">
              <a:defRPr/>
            </a:pPr>
            <a:endParaRPr sz="1800" b="0" i="0" strike="noStrike" dirty="0">
              <a:solidFill>
                <a:srgbClr val="000000">
                  <a:alpha val="100000"/>
                </a:srgbClr>
              </a:solidFill>
              <a:latin typeface="굴림"/>
              <a:ea typeface="굴림"/>
            </a:endParaRPr>
          </a:p>
          <a:p>
            <a:pPr lvl="0" algn="l">
              <a:defRPr/>
            </a:pP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그래서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다음</a:t>
            </a:r>
            <a:r>
              <a:rPr lang="en-US"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lang="ko-KR" altLang="en-US"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개인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프로젝트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주제는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이번에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학습한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모델이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역학적으로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안정적인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모델인가에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대한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주제로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진행하려고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합니다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1B320-48E1-C720-C40F-61A2BF9A6755}"/>
              </a:ext>
            </a:extLst>
          </p:cNvPr>
          <p:cNvSpPr txBox="1"/>
          <p:nvPr/>
        </p:nvSpPr>
        <p:spPr>
          <a:xfrm>
            <a:off x="215704" y="6251484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10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0D26D3-3E85-E0D0-E19C-2C94ADA668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396" y="5366016"/>
            <a:ext cx="6172200" cy="1247775"/>
          </a:xfrm>
          <a:prstGeom prst="rect">
            <a:avLst/>
          </a:prstGeom>
        </p:spPr>
      </p:pic>
      <p:pic>
        <p:nvPicPr>
          <p:cNvPr id="7" name="그림 6" descr="텍스트, 스크린샷, 디스플레이, 소프트웨어이(가) 표시된 사진">
            <a:extLst>
              <a:ext uri="{FF2B5EF4-FFF2-40B4-BE49-F238E27FC236}">
                <a16:creationId xmlns:a16="http://schemas.microsoft.com/office/drawing/2014/main" id="{F16F8A98-8DEE-1F67-0084-2FF69E7BC5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3199" y="1277153"/>
            <a:ext cx="3833221" cy="51589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39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784215" y="3422743"/>
            <a:ext cx="6858000" cy="127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0" y="1019092"/>
            <a:ext cx="12192000" cy="12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907" y="2056447"/>
            <a:ext cx="8101353" cy="75470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854" y="5667648"/>
            <a:ext cx="3122177" cy="43284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295" y="5348357"/>
            <a:ext cx="1150097" cy="4434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141</Words>
  <Application>Microsoft Office PowerPoint</Application>
  <PresentationFormat>와이드스크린</PresentationFormat>
  <Paragraphs>34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-apple-system</vt:lpstr>
      <vt:lpstr>굴림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홍근영</cp:lastModifiedBy>
  <cp:revision>15</cp:revision>
  <dcterms:created xsi:type="dcterms:W3CDTF">2026-01-25T19:08:01Z</dcterms:created>
  <dcterms:modified xsi:type="dcterms:W3CDTF">2026-01-26T03:37:01Z</dcterms:modified>
  <cp:version/>
</cp:coreProperties>
</file>